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634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0" y="274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D6259"/>
                </a:solidFill>
              </a:rPr>
              <a:t>ClaimMate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</a:rPr>
              <a:t>Business Milestone 3 | Simplified Current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259"/>
                </a:solidFill>
              </a:rPr>
              <a:t>A 3-step owner-first workflow that turns accident chaos into a structured, AI-supported claim.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50208" y="2852928"/>
            <a:ext cx="173736" cy="274320"/>
          </a:xfrm>
          <a:prstGeom prst="chevron">
            <a:avLst/>
          </a:prstGeom>
          <a:solidFill>
            <a:srgbClr val="D3C4B5"/>
          </a:solidFill>
          <a:ln w="12700">
            <a:solidFill>
              <a:srgbClr val="D3C4B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7507224" y="2852928"/>
            <a:ext cx="173736" cy="274320"/>
          </a:xfrm>
          <a:prstGeom prst="chevron">
            <a:avLst/>
          </a:prstGeom>
          <a:solidFill>
            <a:srgbClr val="D3C4B5"/>
          </a:solidFill>
          <a:ln w="12700">
            <a:solidFill>
              <a:srgbClr val="D3C4B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CEEE8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672" y="1581912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581912"/>
            <a:ext cx="1371600" cy="292608"/>
          </a:xfrm>
          <a:prstGeom prst="rect">
            <a:avLst/>
          </a:prstGeom>
          <a:solidFill>
            <a:srgbClr val="D9795B"/>
          </a:solidFill>
          <a:ln>
            <a:solidFill>
              <a:srgbClr val="D9795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ACCIDENT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22585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7"/>
                </a:solidFill>
              </a:rPr>
              <a:t>1. Claim preparation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41248" y="2834640"/>
            <a:ext cx="82296" cy="82296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8"/>
          <p:cNvSpPr/>
          <p:nvPr/>
        </p:nvSpPr>
        <p:spPr>
          <a:xfrm>
            <a:off x="987552" y="2743200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At-scene capture: time, GPS, photos, other driver info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3529584"/>
            <a:ext cx="82296" cy="82296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0"/>
          <p:cNvSpPr/>
          <p:nvPr/>
        </p:nvSpPr>
        <p:spPr>
          <a:xfrm>
            <a:off x="987552" y="3438144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Guided checklist prevents missing key evidence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2"/>
          <p:cNvSpPr/>
          <p:nvPr/>
        </p:nvSpPr>
        <p:spPr>
          <a:xfrm>
            <a:off x="987552" y="4133088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Back-home writing assistant turns raw notes into a clean narrative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197096" y="14173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FFF3DE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1688" y="1581912"/>
            <a:ext cx="713232" cy="7132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84648" y="1581912"/>
            <a:ext cx="1371600" cy="292608"/>
          </a:xfrm>
          <a:prstGeom prst="rect">
            <a:avLst/>
          </a:prstGeom>
          <a:solidFill>
            <a:srgbClr val="E7B366"/>
          </a:solidFill>
          <a:ln>
            <a:solidFill>
              <a:srgbClr val="E7B36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111496" y="22585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7"/>
                </a:solidFill>
              </a:rPr>
              <a:t>2. Structured case package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4398264" y="2834640"/>
            <a:ext cx="82296" cy="82296"/>
          </a:xfrm>
          <a:prstGeom prst="ellipse">
            <a:avLst/>
          </a:prstGeom>
          <a:solidFill>
            <a:srgbClr val="E7B366"/>
          </a:solidFill>
          <a:ln w="12700">
            <a:solidFill>
              <a:srgbClr val="E7B36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7"/>
          <p:cNvSpPr/>
          <p:nvPr/>
        </p:nvSpPr>
        <p:spPr>
          <a:xfrm>
            <a:off x="4544568" y="2743200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One-click packaging compiles facts, timeline, and attachments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398264" y="3529584"/>
            <a:ext cx="82296" cy="82296"/>
          </a:xfrm>
          <a:prstGeom prst="ellipse">
            <a:avLst/>
          </a:prstGeom>
          <a:solidFill>
            <a:srgbClr val="E7B366"/>
          </a:solidFill>
          <a:ln w="12700">
            <a:solidFill>
              <a:srgbClr val="E7B36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19"/>
          <p:cNvSpPr/>
          <p:nvPr/>
        </p:nvSpPr>
        <p:spPr>
          <a:xfrm>
            <a:off x="4544568" y="3438144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Creates a standard claim packet instead of scattered screenshots and calls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398264" y="4224528"/>
            <a:ext cx="82296" cy="82296"/>
          </a:xfrm>
          <a:prstGeom prst="ellipse">
            <a:avLst/>
          </a:prstGeom>
          <a:solidFill>
            <a:srgbClr val="E7B366"/>
          </a:solidFill>
          <a:ln w="12700">
            <a:solidFill>
              <a:srgbClr val="E7B36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1"/>
          <p:cNvSpPr/>
          <p:nvPr/>
        </p:nvSpPr>
        <p:spPr>
          <a:xfrm>
            <a:off x="4544568" y="4133088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The case starts with context already organized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754112" y="141732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EDF4E8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18704" y="1581912"/>
            <a:ext cx="713232" cy="7132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41664" y="1581912"/>
            <a:ext cx="1371600" cy="292608"/>
          </a:xfrm>
          <a:prstGeom prst="rect">
            <a:avLst/>
          </a:prstGeom>
          <a:solidFill>
            <a:srgbClr val="7E9C6D"/>
          </a:solidFill>
          <a:ln>
            <a:solidFill>
              <a:srgbClr val="7E9C6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668512" y="22585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1717"/>
                </a:solidFill>
              </a:rPr>
              <a:t>3. Post-submission copilot</a:t>
            </a:r>
            <a:endParaRPr lang="en-US" sz="1650" dirty="0"/>
          </a:p>
        </p:txBody>
      </p:sp>
      <p:sp>
        <p:nvSpPr>
          <p:cNvPr id="30" name="Shape 25"/>
          <p:cNvSpPr/>
          <p:nvPr/>
        </p:nvSpPr>
        <p:spPr>
          <a:xfrm>
            <a:off x="7955280" y="2834640"/>
            <a:ext cx="82296" cy="82296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6"/>
          <p:cNvSpPr/>
          <p:nvPr/>
        </p:nvSpPr>
        <p:spPr>
          <a:xfrm>
            <a:off x="8101584" y="2743200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Multi-party chat connects owner, adjuster, shop, and family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955280" y="3529584"/>
            <a:ext cx="82296" cy="82296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28"/>
          <p:cNvSpPr/>
          <p:nvPr/>
        </p:nvSpPr>
        <p:spPr>
          <a:xfrm>
            <a:off x="8101584" y="3438144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AI answers policy / regulation questions in real time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955280" y="4224528"/>
            <a:ext cx="82296" cy="82296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0"/>
          <p:cNvSpPr/>
          <p:nvPr/>
        </p:nvSpPr>
        <p:spPr>
          <a:xfrm>
            <a:off x="8101584" y="4133088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Dispute detector + deadline reminders support fair follow-up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49808" y="5486400"/>
            <a:ext cx="10744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71717"/>
                </a:solidFill>
              </a:rPr>
              <a:t>Core idea: ClaimMate is not just a chatbot. It converts unstructured accident information into a shared case context before communication starts.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49808" y="5916168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6259"/>
                </a:solidFill>
              </a:rPr>
              <a:t>Based on the team's original proposal and slides (technical architecture + moat sections).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</a:rPr>
              <a:t>How ClaimMate is Different from Existing Solutions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259"/>
                </a:solidFill>
              </a:rPr>
              <a:t>Existing tools optimize insurer operations. ClaimMate gives the information advantage to the car owner.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BF7F2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Existing insurer-first tools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1143000" cy="274320"/>
          </a:xfrm>
          <a:prstGeom prst="rect">
            <a:avLst/>
          </a:prstGeom>
          <a:solidFill>
            <a:srgbClr val="3A3A3A"/>
          </a:solidFill>
          <a:ln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B2B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32688" y="2313432"/>
            <a:ext cx="91440" cy="9144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717"/>
                </a:solidFill>
              </a:rPr>
              <a:t>Sold to insurers to lower handling cost and automate internal workflows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026664"/>
            <a:ext cx="91440" cy="9144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1097280" y="295351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717"/>
                </a:solidFill>
              </a:rPr>
              <a:t>User (car owner) is mostly a data source, not the decision center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3739896"/>
            <a:ext cx="91440" cy="9144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097280" y="366674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717"/>
                </a:solidFill>
              </a:rPr>
              <a:t>Little transparency on coverage, deadlines, or dispute rights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453128"/>
            <a:ext cx="91440" cy="91440"/>
          </a:xfrm>
          <a:prstGeom prst="ellipse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1097280" y="43799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717"/>
                </a:solidFill>
              </a:rPr>
              <a:t>Communication remains fragmented across calls, emails, and portals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6259"/>
                </a:solidFill>
              </a:rPr>
              <a:t>Typical workflow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97280" cy="310896"/>
          </a:xfrm>
          <a:prstGeom prst="rect">
            <a:avLst/>
          </a:prstGeom>
          <a:solidFill>
            <a:srgbClr val="CAC3B8"/>
          </a:solidFill>
          <a:ln>
            <a:solidFill>
              <a:srgbClr val="CAC3B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</a:rPr>
              <a:t>Owner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5367528"/>
            <a:ext cx="502920" cy="283464"/>
          </a:xfrm>
          <a:prstGeom prst="chevron">
            <a:avLst/>
          </a:prstGeom>
          <a:solidFill>
            <a:srgbClr val="CAC3B8"/>
          </a:solidFill>
          <a:ln w="12700">
            <a:solidFill>
              <a:srgbClr val="CAC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2670048" y="5349240"/>
            <a:ext cx="1005840" cy="310896"/>
          </a:xfrm>
          <a:prstGeom prst="rect">
            <a:avLst/>
          </a:prstGeom>
          <a:solidFill>
            <a:srgbClr val="CAC3B8"/>
          </a:solidFill>
          <a:ln>
            <a:solidFill>
              <a:srgbClr val="CAC3B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</a:rPr>
              <a:t>Insurer decides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67328" y="5367528"/>
            <a:ext cx="502920" cy="283464"/>
          </a:xfrm>
          <a:prstGeom prst="chevron">
            <a:avLst/>
          </a:prstGeom>
          <a:solidFill>
            <a:srgbClr val="CAC3B8"/>
          </a:solidFill>
          <a:ln w="12700">
            <a:solidFill>
              <a:srgbClr val="CAC3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4334256" y="5349240"/>
            <a:ext cx="868680" cy="310896"/>
          </a:xfrm>
          <a:prstGeom prst="rect">
            <a:avLst/>
          </a:prstGeom>
          <a:solidFill>
            <a:srgbClr val="CAC3B8"/>
          </a:solidFill>
          <a:ln>
            <a:solidFill>
              <a:srgbClr val="CAC3B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1717"/>
                </a:solidFill>
              </a:rPr>
              <a:t>Owner waits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325880"/>
            <a:ext cx="5285232" cy="4526280"/>
          </a:xfrm>
          <a:prstGeom prst="roundRect">
            <a:avLst>
              <a:gd name="adj" fmla="val 1616"/>
            </a:avLst>
          </a:prstGeom>
          <a:solidFill>
            <a:srgbClr val="F7FBF4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537959" y="1645920"/>
            <a:ext cx="41750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ClaimMate owner-first model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61320" y="1645920"/>
            <a:ext cx="713232" cy="274320"/>
          </a:xfrm>
          <a:prstGeom prst="rect">
            <a:avLst/>
          </a:prstGeom>
          <a:solidFill>
            <a:srgbClr val="7E9C6D"/>
          </a:solidFill>
          <a:ln>
            <a:solidFill>
              <a:srgbClr val="7E9C6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B2C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148840"/>
            <a:ext cx="2221992" cy="224028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6720840" y="2395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7"/>
                </a:solidFill>
              </a:rPr>
              <a:t>Dual-knowledge RAG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788920"/>
            <a:ext cx="1783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1717"/>
                </a:solidFill>
              </a:rPr>
              <a:t>User policy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1717"/>
                </a:solidFill>
              </a:rPr>
              <a:t>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71717"/>
                </a:solidFill>
              </a:rPr>
              <a:t>Authoritative legal / claims documents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794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D6259"/>
                </a:solidFill>
              </a:rPr>
              <a:t>Less hallucination, more verifiable answers.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42832" y="2148840"/>
            <a:ext cx="2221992" cy="2240280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9070848" y="2331720"/>
            <a:ext cx="1947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1717"/>
                </a:solidFill>
              </a:rPr>
              <a:t>Single → multi-party growth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144000" y="285292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</a:rPr>
              <a:t>The owner gets value alone first, then invites adjusters / repair shops into an already-structured case.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D6259"/>
                </a:solidFill>
              </a:rPr>
              <a:t>Solves cold start naturally.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48463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6259"/>
                </a:solidFill>
              </a:rPr>
              <a:t>Why it is novel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1023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1717"/>
                </a:solidFill>
              </a:rPr>
              <a:t>Instead of helping insurers process claims faster, we help owners understand coverage, track deadlines, and negotiate with evidence and legal context.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</a:rPr>
              <a:t>Why Our Team Can Build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6259"/>
                </a:solidFill>
              </a:rPr>
              <a:t>Novelty is not only the idea; it is the integration of domain workflow, architecture, and product strategy.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6629400" cy="4480560"/>
          </a:xfrm>
          <a:prstGeom prst="roundRect">
            <a:avLst>
              <a:gd name="adj" fmla="val 1633"/>
            </a:avLst>
          </a:prstGeom>
          <a:solidFill>
            <a:srgbClr val="FFFDFC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1717"/>
                </a:solidFill>
              </a:rPr>
              <a:t>Integrated technical stack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91640" cy="3246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078992" y="2194560"/>
            <a:ext cx="1362456" cy="320040"/>
          </a:xfrm>
          <a:prstGeom prst="rect">
            <a:avLst/>
          </a:prstGeom>
          <a:solidFill>
            <a:srgbClr val="6F8FB8"/>
          </a:solidFill>
          <a:ln>
            <a:solidFill>
              <a:srgbClr val="6F8FB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 layer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8992" y="2770632"/>
            <a:ext cx="73152" cy="73152"/>
          </a:xfrm>
          <a:prstGeom prst="ellipse">
            <a:avLst/>
          </a:prstGeom>
          <a:solidFill>
            <a:srgbClr val="6F8FB8"/>
          </a:solidFill>
          <a:ln w="12700">
            <a:solidFill>
              <a:srgbClr val="6F8F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216152" y="26974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Web 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78992" y="3300984"/>
            <a:ext cx="73152" cy="73152"/>
          </a:xfrm>
          <a:prstGeom prst="ellipse">
            <a:avLst/>
          </a:prstGeom>
          <a:solidFill>
            <a:srgbClr val="6F8FB8"/>
          </a:solidFill>
          <a:ln w="12700">
            <a:solidFill>
              <a:srgbClr val="6F8FB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216152" y="32278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Android flow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2011680"/>
            <a:ext cx="1691640" cy="3246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2953512" y="2194560"/>
            <a:ext cx="1362456" cy="320040"/>
          </a:xfrm>
          <a:prstGeom prst="rect">
            <a:avLst/>
          </a:prstGeom>
          <a:solidFill>
            <a:srgbClr val="D9795B"/>
          </a:solidFill>
          <a:ln>
            <a:solidFill>
              <a:srgbClr val="D9795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53512" y="2770632"/>
            <a:ext cx="73152" cy="73152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090672" y="26974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WebSocket group chat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53512" y="3300984"/>
            <a:ext cx="73152" cy="73152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3090672" y="32278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Accident form generator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53512" y="3831336"/>
            <a:ext cx="73152" cy="73152"/>
          </a:xfrm>
          <a:prstGeom prst="ellipse">
            <a:avLst/>
          </a:prstGeom>
          <a:solidFill>
            <a:srgbClr val="D9795B"/>
          </a:solidFill>
          <a:ln w="12700">
            <a:solidFill>
              <a:srgbClr val="D9795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090672" y="375818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Invitation link system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011680"/>
            <a:ext cx="1783080" cy="32461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828032" y="2194560"/>
            <a:ext cx="1453896" cy="320040"/>
          </a:xfrm>
          <a:prstGeom prst="rect">
            <a:avLst/>
          </a:prstGeom>
          <a:solidFill>
            <a:srgbClr val="7E9C6D"/>
          </a:solidFill>
          <a:ln>
            <a:solidFill>
              <a:srgbClr val="7E9C6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2770632"/>
            <a:ext cx="73152" cy="73152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965192" y="26974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Dual-knowledge RAG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28032" y="3300984"/>
            <a:ext cx="73152" cy="73152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4965192" y="322783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Dispute detector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28032" y="3831336"/>
            <a:ext cx="73152" cy="73152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965192" y="37581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Deadline reminder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4361688"/>
            <a:ext cx="73152" cy="73152"/>
          </a:xfrm>
          <a:prstGeom prst="ellipse">
            <a:avLst/>
          </a:prstGeom>
          <a:solidFill>
            <a:srgbClr val="7E9C6D"/>
          </a:solidFill>
          <a:ln w="12700">
            <a:solidFill>
              <a:srgbClr val="7E9C6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4965192" y="428853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Photo guidance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5440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D6259"/>
                </a:solidFill>
              </a:rPr>
              <a:t>These pieces only create value when they work together in one claim workflow.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98080" y="132588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F9F5EE"/>
          </a:solidFill>
          <a:ln w="12700">
            <a:solidFill>
              <a:srgbClr val="D6CBBE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7754112" y="1645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1717"/>
                </a:solidFill>
              </a:rPr>
              <a:t>Why us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735824" y="2130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95B"/>
                </a:solidFill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6720" y="21305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</a:rPr>
              <a:t>We understand the domain pain point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250545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The proposal is grounded in real claim friction: missing evidence, unclear coverage, slow adjuster responses, and unfair negotiation.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35824" y="3300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95B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46720" y="33009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</a:rPr>
              <a:t>We designed a defensible technical moat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0" y="36118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Dual-knowledge RAG + dispute/deadline logic is more than a generic chatbot wrapper.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735824" y="4471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95B"/>
                </a:solidFill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46720" y="44714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717"/>
                </a:solidFill>
              </a:rPr>
              <a:t>We solved adoption at the workflow level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46720" y="483717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1717"/>
                </a:solidFill>
              </a:rPr>
              <a:t>Owner-first usage creates immediate value; invitation links bring professionals into the same context without a forced platform rollout.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348740" y="6071616"/>
            <a:ext cx="91460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717"/>
                </a:solidFill>
              </a:rPr>
              <a:t>Closing message: ClaimMate is novel because it changes who AI is built for in claims — and credible because our architecture and product flow are already designed around that shift.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506</Words>
  <Application>Microsoft Macintosh PowerPoint</Application>
  <PresentationFormat>Widescreen</PresentationFormat>
  <Paragraphs>73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ClaimMate Business Milestone 3</dc:title>
  <dc:subject>ClaimMate milestone 3</dc:subject>
  <dc:creator>OpenAI</dc:creator>
  <cp:lastModifiedBy>铭涛 丁</cp:lastModifiedBy>
  <cp:revision>2</cp:revision>
  <dcterms:created xsi:type="dcterms:W3CDTF">2026-04-20T06:41:12Z</dcterms:created>
  <dcterms:modified xsi:type="dcterms:W3CDTF">2026-04-21T01:36:48Z</dcterms:modified>
</cp:coreProperties>
</file>