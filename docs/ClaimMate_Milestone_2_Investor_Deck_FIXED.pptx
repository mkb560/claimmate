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54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NAIC Releases 2024 Market Share Data — https://content.naic.org/article/naic-releases-2024-market-share-data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California DMV Statistics — https://www.dmv.ca.gov/portal/news-and-media/dmv-statistics/
 - NAIC 2022/2023 Auto Insurance Database Report — https://content.naic.org/sites/default/files/publication-aut-pb-auto-insurance-database.pdf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CCC investor / company materials — https://ir.cccis.com/ and https://www.cccis.com/news-and-insights/posts/ccc-intelligent-solutions-announces-the-acquisition-of-evolutioniq-the-leading-ai-guidance-platform-for-disability-and-injury-claims-management
 - Snapsheet claims platform — https://www.snapsheetclaims.com/lp/claims-platform and https://www.snapsheetclaims.com/post/snapsheet-and-crashbay-partner-to-streamline-claims-and-repair-management-for-insurers
 - Tractable insurers page — https://tractable.ai/insurers/
 - Hi Marley / Quincy Mutual case study — https://cdn.featuredcustomers.com/CustomerCaseStudy.document/hi-marley-inc_quincy-mutual-group_938445.pdf and https://www.himarley.com/hi-marleys-frequently-asked-questions/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Positioning and framing derived from user-provided strategy brief; no external quantitative claim beyond sources already cited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California DMV Statistics — https://www.dmv.ca.gov/portal/news-and-media/dmv-statistics/
 - Pricing structure and illustrative scenario from user-provided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GTM framing derived from user-provided brief; search-intent examples come from the uploaded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 - Uploaded brief: BUSINESS_MILESTONE_2_VIDEO_SCRIPT.md
 - Milestone framing and workflow elements derived from the user-provided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A90"/>
                </a:solidFill>
              </a:rPr>
              <a:t>ClaimMate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A Huge Market. The Wrong Side Is Being Served.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Claims AI is real, but most of the value still accrues to insurers—not drivers.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324F"/>
                </a:solidFill>
              </a:rPr>
              <a:t>$344.1B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U.S. private passenger auto insurance direct written premiums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4"/>
                </a:solidFill>
              </a:rPr>
              <a:t>~35% of all written premiums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590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Large enough that claims workflow is clearly not a niche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325880"/>
            <a:ext cx="61264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8521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Who is being served?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2148840"/>
            <a:ext cx="2148840" cy="74980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8CC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5989320" y="23865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Carrier / Adjuster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2560320" cy="74980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8CC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394192" y="2386584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Claims Software &amp;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Most innovation, tooling, and ROI evidence sits here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BUT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0" y="4251960"/>
            <a:ext cx="2606040" cy="868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6C2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7132320" y="45720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Drivers remain underserved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5212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Confusing claims steps, deadlines, and poor information symmetry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8"/>
                </a:solidFill>
              </a:rPr>
              <a:t>California Alone Is Big Enough To Start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Large driver base, meaningful premium spend, and a focused regulatory wedge.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448056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051560" y="1920240"/>
            <a:ext cx="2926080" cy="1920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8CC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141732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EB"/>
                </a:solidFill>
              </a:rPr>
              <a:t>CA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41732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</a:rPr>
              <a:t>Focused state wedge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Start with one large state before expanding nationwide.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2834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4965192" y="202996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324F"/>
                </a:solidFill>
              </a:rPr>
              <a:t>35.98M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65192" y="251460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Registered vehicles (Jan. 1,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2834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074152" y="202996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A4"/>
                </a:solidFill>
              </a:rPr>
              <a:t>$1,417.94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74152" y="251460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Combined average premium (2023)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657600"/>
            <a:ext cx="5943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74920" y="3913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Why California works as a wedge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422452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• Enough scale to matter before a national rollout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451713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• High-value auto insurance market with real claim complexity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48097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• Narrower initial GTM, support, and regulatory surface area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The Industry Already Pays For Claims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The money is real. The value has already been proven in enterprise workflows.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143000" y="2148840"/>
            <a:ext cx="1600200" cy="640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CCC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35K+ connected businesses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$100B annual transactions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3977640" y="2148840"/>
            <a:ext cx="1600200" cy="640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703320" y="23408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A4"/>
                </a:solidFill>
              </a:rPr>
              <a:t>Snapsheet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30632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140+ 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4434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812280" y="2148840"/>
            <a:ext cx="1600200" cy="640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537960" y="23408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58"/>
                </a:solidFill>
              </a:rPr>
              <a:t>Tractable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30632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8-day cycle-time reduction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50% less estimate writing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9646920" y="2148840"/>
            <a:ext cx="1600200" cy="640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9372600" y="23408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Hi Marley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30632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2 days faster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10%+ fewer phone calls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0" y="4434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</a:rPr>
              <a:t>Conclusion: the question is not whether claims software creates value. It does. The open question is who owns the consumer relationship.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Everyone Optimizes The Carrier. Almost No One Owns The Driver.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00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That is ClaimMate’s wedge.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41648" y="2907792"/>
            <a:ext cx="201168" cy="329184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7635240" y="2852928"/>
            <a:ext cx="411480" cy="45720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291840" cy="34747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4526280" y="1737360"/>
            <a:ext cx="3108960" cy="34747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092440" y="1737360"/>
            <a:ext cx="3291840" cy="34747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</a:rPr>
              <a:t>Today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</a:rPr>
              <a:t>Enterprise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</a:rPr>
              <a:t>ClaimMate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Insurer-side focus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Carrier operations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Adjuster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Repair / routing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840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Settlement efficiency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9D58"/>
                </a:solidFill>
              </a:rPr>
              <a:t>Strong ROI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67085"/>
                </a:solidFill>
              </a:rPr>
              <a:t>But mostly captured by the insurance side of the workflow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58"/>
                </a:solidFill>
              </a:rPr>
              <a:t>vs.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8"/>
                </a:solidFill>
              </a:rPr>
              <a:t>Consumer gap remains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Driver-side guidance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5820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Policy Q&amp;A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108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Accident intake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Deadline reminders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3840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Dispute support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4526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Need help before, during, and after the claim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Low-Friction Pricing For A Low-Frequency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Free entry. Paid case unlock.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651760" cy="33832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Free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Basic policy Q&amp;A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Accident intake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Limited guidance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1737360"/>
            <a:ext cx="2926080" cy="3383280"/>
          </a:xfrm>
          <a:prstGeom prst="roundRect">
            <a:avLst>
              <a:gd name="adj" fmla="val 1875"/>
            </a:avLst>
          </a:prstGeom>
          <a:solidFill>
            <a:srgbClr val="FFF7ED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84048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$4.99 / case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27432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Unlimited claim support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0906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Deadline reminders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34381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Dispute help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78561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• Exportable claim history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1737360"/>
            <a:ext cx="45262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722376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Illustrative California-only math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69480" y="2514600"/>
            <a:ext cx="374904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7388352" y="2642616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</a:rPr>
              <a:t>Paid case unlocks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05672" y="26426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Cases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20072" y="264261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Gross revenue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2926080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388352" y="309067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</a:rPr>
              <a:t>0.5% of CA vehicles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05672" y="309067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F"/>
                </a:solidFill>
              </a:rPr>
              <a:t>~180K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20072" y="3090672"/>
            <a:ext cx="1051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A4"/>
                </a:solidFill>
              </a:rPr>
              <a:t>~$0.9M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3429000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7388352" y="359359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</a:rPr>
              <a:t>1.0% of CA vehicles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05672" y="35935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F"/>
                </a:solidFill>
              </a:rPr>
              <a:t>~360K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20072" y="3593592"/>
            <a:ext cx="1051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A4"/>
                </a:solidFill>
              </a:rPr>
              <a:t>~$1.8M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4251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Illustrative only — not a forecast. Per-case pricing matches a low-frequency claims event better than a monthly subscription.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Acquire Users At The Moment Of Need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Search intent + claim workflow sharing + referral loops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377440" cy="3200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143000" y="2148840"/>
            <a:ext cx="50292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1143000" y="2313432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267712"/>
            <a:ext cx="1416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Search / discovery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High-intent queries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6382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“claim denied”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4930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“rental reimbursement”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3749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“15-day claim rule”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192024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297680" y="2148840"/>
            <a:ext cx="502920" cy="50292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297680" y="2313432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9D58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2677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Case setup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28346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Accident report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163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Structured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493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Policy + claim 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822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Reminder creation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7543800" y="2148840"/>
            <a:ext cx="50292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543800" y="2313432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83880" y="226771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Workflow sharing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35240" y="2834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Shared claim context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31638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Repair shop / family visibility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34930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Adjuster conversations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3822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• Referral loops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20440" y="3154680"/>
            <a:ext cx="365760" cy="41148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6812280" y="3154680"/>
            <a:ext cx="365760" cy="41148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868680" y="5577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</a:rPr>
              <a:t>Users do not appear out of thin air. Entry starts with a real claims problem, then compounds through workflow visibility.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Milestone 2: From Idea To Repeatable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We are de-risking both product value and monetization logic.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3291840"/>
            <a:ext cx="6629400" cy="0"/>
          </a:xfrm>
          <a:prstGeom prst="line">
            <a:avLst/>
          </a:prstGeom>
          <a:noFill/>
          <a:ln w="12700">
            <a:solidFill>
              <a:srgbClr val="B8CC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554480" y="289864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Grounded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policy Q&amp;A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898648"/>
            <a:ext cx="640080" cy="64008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397764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Structured accident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report &amp; context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8986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08660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AI claim support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+ reminders + disputes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4231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Prototype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24231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Monetizable workflow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84080" y="1828800"/>
            <a:ext cx="1737360" cy="2971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966960" y="21488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What this de-risks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66960" y="26517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• Product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66960" y="303580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• Consumer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6960" y="34198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• Paid unlock logic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66960" y="380390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• Real usage path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</a:rPr>
              <a:t>Bottom line: ClaimMate is moving from story to usable workflow—with a believable path to monetization.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Macintosh PowerPoint</Application>
  <PresentationFormat>Widescreen</PresentationFormat>
  <Paragraphs>141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ClaimMate Milestone 2</dc:title>
  <dc:subject>ClaimMate Milestone 2 Investor-style deck</dc:subject>
  <dc:creator>OpenAI</dc:creator>
  <cp:lastModifiedBy>铭涛 丁</cp:lastModifiedBy>
  <cp:revision>2</cp:revision>
  <dcterms:created xsi:type="dcterms:W3CDTF">2026-04-12T07:25:46Z</dcterms:created>
  <dcterms:modified xsi:type="dcterms:W3CDTF">2026-04-12T09:29:27Z</dcterms:modified>
</cp:coreProperties>
</file>